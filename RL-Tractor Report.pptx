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12"/>
  </p:notesMasterIdLst>
  <p:handoutMasterIdLst>
    <p:handoutMasterId r:id="rId13"/>
  </p:handout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C41507E-EAB9-4C2B-959A-E8F297C42FC1}">
          <p14:sldIdLst>
            <p14:sldId id="259"/>
            <p14:sldId id="258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DC13AB6D-DEA2-4CBB-AC69-1EF1A6AD1512}">
      <dgm:prSet custT="1"/>
      <dgm:spPr/>
      <dgm:t>
        <a:bodyPr rtlCol="0"/>
        <a:lstStyle/>
        <a:p>
          <a:pPr rtl="0">
            <a:defRPr cap="all"/>
          </a:pPr>
          <a:r>
            <a:rPr lang="en-US" altLang="zh-CN" sz="2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Noto Sans SC Black" panose="020B0200000000000000" pitchFamily="34" charset="-122"/>
              <a:ea typeface="Noto Sans SC Black" panose="020B0200000000000000" pitchFamily="34" charset="-122"/>
              <a:cs typeface="新宋体" panose="02010609030101010101" pitchFamily="49" charset="-122"/>
            </a:rPr>
            <a:t>MODEL ARCHITECTURE</a:t>
          </a:r>
          <a:endParaRPr lang="zh-cn" sz="2800" b="1" kern="1200" dirty="0">
            <a:ln>
              <a:solidFill>
                <a:schemeClr val="bg1">
                  <a:lumMod val="75000"/>
                  <a:lumOff val="25000"/>
                  <a:alpha val="10000"/>
                </a:schemeClr>
              </a:solidFill>
            </a:ln>
            <a:solidFill>
              <a:schemeClr val="tx2"/>
            </a:solidFill>
            <a:effectLst>
              <a:outerShdw blurRad="9525" dist="25400" dir="14640000" algn="tl" rotWithShape="0">
                <a:schemeClr val="bg1">
                  <a:alpha val="30000"/>
                </a:schemeClr>
              </a:outerShdw>
            </a:effectLst>
            <a:latin typeface="Noto Sans SC Black" panose="020B0200000000000000" pitchFamily="34" charset="-122"/>
            <a:ea typeface="Noto Sans SC Black" panose="020B0200000000000000" pitchFamily="34" charset="-122"/>
            <a:cs typeface="新宋体" panose="02010609030101010101" pitchFamily="49" charset="-122"/>
          </a:endParaRPr>
        </a:p>
      </dgm:t>
    </dgm:pt>
    <dgm:pt modelId="{2C752582-D9FF-4E04-A92F-827DB4BB5C48}" type="parTrans" cxnId="{4B888393-351D-4489-90C9-5A68061AB236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9C64CC83-643C-4E12-8F97-BC19DC031190}" type="sibTrans" cxnId="{4B888393-351D-4489-90C9-5A68061AB236}">
      <dgm:prSet phldrT="01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01</a:t>
          </a:r>
          <a:endParaRPr lang="zh-cn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53742231-981F-480A-940F-203EC2F7423F}">
      <dgm:prSet custT="1"/>
      <dgm:spPr/>
      <dgm:t>
        <a:bodyPr rtlCol="0"/>
        <a:lstStyle/>
        <a:p>
          <a:pPr rtl="0">
            <a:defRPr cap="all"/>
          </a:pPr>
          <a:r>
            <a:rPr lang="en-US" altLang="zh-CN" sz="2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Noto Sans SC Black" panose="020B0200000000000000" pitchFamily="34" charset="-122"/>
              <a:ea typeface="Noto Sans SC Black" panose="020B0200000000000000" pitchFamily="34" charset="-122"/>
              <a:cs typeface="新宋体" panose="02010609030101010101" pitchFamily="49" charset="-122"/>
            </a:rPr>
            <a:t>PPO-RL PERFORMANCE</a:t>
          </a:r>
          <a:endParaRPr lang="zh-cn" sz="2800" b="1" kern="1200" dirty="0">
            <a:ln>
              <a:solidFill>
                <a:schemeClr val="bg1">
                  <a:lumMod val="75000"/>
                  <a:lumOff val="25000"/>
                  <a:alpha val="10000"/>
                </a:schemeClr>
              </a:solidFill>
            </a:ln>
            <a:solidFill>
              <a:schemeClr val="tx2"/>
            </a:solidFill>
            <a:effectLst>
              <a:outerShdw blurRad="9525" dist="25400" dir="14640000" algn="tl" rotWithShape="0">
                <a:schemeClr val="bg1">
                  <a:alpha val="30000"/>
                </a:schemeClr>
              </a:outerShdw>
            </a:effectLst>
            <a:latin typeface="Noto Sans SC Black" panose="020B0200000000000000" pitchFamily="34" charset="-122"/>
            <a:ea typeface="Noto Sans SC Black" panose="020B0200000000000000" pitchFamily="34" charset="-122"/>
            <a:cs typeface="新宋体" panose="02010609030101010101" pitchFamily="49" charset="-122"/>
          </a:endParaRPr>
        </a:p>
      </dgm:t>
    </dgm:pt>
    <dgm:pt modelId="{2FC75195-FBA1-43DE-85DD-40B4B3A2F1F3}" type="parTrans" cxnId="{F226B1C2-5D99-403A-8240-EAD6BD4D8534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EF449C32-A7AE-4099-9E9B-9E2F736A89CE}" type="sibTrans" cxnId="{F226B1C2-5D99-403A-8240-EAD6BD4D8534}">
      <dgm:prSet phldrT="02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02</a:t>
          </a:r>
          <a:endParaRPr lang="zh-cn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9EF41CC5-EF3B-4A6D-8229-3F1333EADFB3}">
      <dgm:prSet custT="1"/>
      <dgm:spPr/>
      <dgm:t>
        <a:bodyPr rtlCol="0"/>
        <a:lstStyle/>
        <a:p>
          <a:pPr rtl="0">
            <a:defRPr cap="all"/>
          </a:pPr>
          <a:r>
            <a:rPr lang="en-US" altLang="zh-CN" sz="2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Noto Sans SC Black" panose="020B0200000000000000" pitchFamily="34" charset="-122"/>
              <a:ea typeface="Noto Sans SC Black" panose="020B0200000000000000" pitchFamily="34" charset="-122"/>
              <a:cs typeface="新宋体" panose="02010609030101010101" pitchFamily="49" charset="-122"/>
            </a:rPr>
            <a:t>POTENTIAL REFINEMENTS</a:t>
          </a:r>
          <a:endParaRPr lang="zh-cn" sz="2800" b="1" kern="1200" dirty="0">
            <a:ln>
              <a:solidFill>
                <a:schemeClr val="bg1">
                  <a:lumMod val="75000"/>
                  <a:lumOff val="25000"/>
                  <a:alpha val="10000"/>
                </a:schemeClr>
              </a:solidFill>
            </a:ln>
            <a:solidFill>
              <a:schemeClr val="tx2"/>
            </a:solidFill>
            <a:effectLst>
              <a:outerShdw blurRad="9525" dist="25400" dir="14640000" algn="tl" rotWithShape="0">
                <a:schemeClr val="bg1">
                  <a:alpha val="30000"/>
                </a:schemeClr>
              </a:outerShdw>
            </a:effectLst>
            <a:latin typeface="Noto Sans SC Black" panose="020B0200000000000000" pitchFamily="34" charset="-122"/>
            <a:ea typeface="Noto Sans SC Black" panose="020B0200000000000000" pitchFamily="34" charset="-122"/>
            <a:cs typeface="新宋体" panose="02010609030101010101" pitchFamily="49" charset="-122"/>
          </a:endParaRPr>
        </a:p>
      </dgm:t>
    </dgm:pt>
    <dgm:pt modelId="{DAEF1C7D-B0C5-46FA-BED3-8A54E918D3E0}" type="parTrans" cxnId="{E476EEBC-7C9F-4E07-BD58-1044B9769B64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98E6DD7C-B953-4119-9F64-9914E467ECBF}" type="sibTrans" cxnId="{E476EEBC-7C9F-4E07-BD58-1044B9769B64}">
      <dgm:prSet phldrT="03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 custScaleX="154179"/>
      <dgm:spPr/>
    </dgm:pt>
    <dgm:pt modelId="{BBA91679-4684-4A04-8AEB-03038C78A75C}" type="pres">
      <dgm:prSet presAssocID="{9C64CC83-643C-4E12-8F97-BC19DC031190}" presName="sibTransNodeRect" presStyleLbl="alignNode1" presStyleIdx="0" presStyleCnt="3" custLinFactNeighborX="20088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 custScaleX="148205"/>
      <dgm:spPr/>
    </dgm:pt>
    <dgm:pt modelId="{975C752B-C37A-4BA6-A3AE-2202A141404A}" type="pres">
      <dgm:prSet presAssocID="{EF449C32-A7AE-4099-9E9B-9E2F736A89CE}" presName="sibTransNodeRect" presStyleLbl="alignNode1" presStyleIdx="1" presStyleCnt="3" custLinFactNeighborX="20088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 custScaleX="153144"/>
      <dgm:spPr/>
    </dgm:pt>
    <dgm:pt modelId="{E20811D6-E5D4-4C9E-AABF-9E0E1902CA2C}" type="pres">
      <dgm:prSet presAssocID="{98E6DD7C-B953-4119-9F64-9914E467ECBF}" presName="sibTransNodeRect" presStyleLbl="alignNode1" presStyleIdx="2" presStyleCnt="3" custLinFactNeighborX="20088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3964" y="540921"/>
          <a:ext cx="3382824" cy="263290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727" tIns="0" rIns="216727" bIns="330200" numCol="1" spcCol="1270" rtlCol="0" anchor="t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CN" sz="2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Noto Sans SC Black" panose="020B0200000000000000" pitchFamily="34" charset="-122"/>
              <a:ea typeface="Noto Sans SC Black" panose="020B0200000000000000" pitchFamily="34" charset="-122"/>
              <a:cs typeface="新宋体" panose="02010609030101010101" pitchFamily="49" charset="-122"/>
            </a:rPr>
            <a:t>MODEL ARCHITECTURE</a:t>
          </a:r>
          <a:endParaRPr lang="zh-cn" sz="2800" b="1" kern="1200" dirty="0">
            <a:ln>
              <a:solidFill>
                <a:schemeClr val="bg1">
                  <a:lumMod val="75000"/>
                  <a:lumOff val="25000"/>
                  <a:alpha val="10000"/>
                </a:schemeClr>
              </a:solidFill>
            </a:ln>
            <a:solidFill>
              <a:schemeClr val="tx2"/>
            </a:solidFill>
            <a:effectLst>
              <a:outerShdw blurRad="9525" dist="25400" dir="14640000" algn="tl" rotWithShape="0">
                <a:schemeClr val="bg1">
                  <a:alpha val="30000"/>
                </a:schemeClr>
              </a:outerShdw>
            </a:effectLst>
            <a:latin typeface="Noto Sans SC Black" panose="020B0200000000000000" pitchFamily="34" charset="-122"/>
            <a:ea typeface="Noto Sans SC Black" panose="020B0200000000000000" pitchFamily="34" charset="-122"/>
            <a:cs typeface="新宋体" panose="02010609030101010101" pitchFamily="49" charset="-122"/>
          </a:endParaRPr>
        </a:p>
      </dsp:txBody>
      <dsp:txXfrm>
        <a:off x="3964" y="1594084"/>
        <a:ext cx="3382824" cy="1579744"/>
      </dsp:txXfrm>
    </dsp:sp>
    <dsp:sp modelId="{BBA91679-4684-4A04-8AEB-03038C78A75C}">
      <dsp:nvSpPr>
        <dsp:cNvPr id="0" name=""/>
        <dsp:cNvSpPr/>
      </dsp:nvSpPr>
      <dsp:spPr>
        <a:xfrm>
          <a:off x="1039081" y="540921"/>
          <a:ext cx="2194089" cy="1053162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727" tIns="165100" rIns="216727" bIns="165100" numCol="1" spcCol="1270" rtlCol="0" anchor="ctr" anchorCtr="0">
          <a:noAutofit/>
        </a:bodyPr>
        <a:lstStyle/>
        <a:p>
          <a:pPr marL="0" lvl="0" indent="0" algn="l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4800" kern="1200">
              <a:latin typeface="新宋体" panose="02010609030101010101" pitchFamily="49" charset="-122"/>
              <a:ea typeface="新宋体" panose="02010609030101010101" pitchFamily="49" charset="-122"/>
            </a:rPr>
            <a:t>01</a:t>
          </a:r>
          <a:endParaRPr lang="zh-cn" sz="48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1039081" y="540921"/>
        <a:ext cx="2194089" cy="1053162"/>
      </dsp:txXfrm>
    </dsp:sp>
    <dsp:sp modelId="{00AE7F27-0E5D-4AFB-ACD6-B5A19E79EA42}">
      <dsp:nvSpPr>
        <dsp:cNvPr id="0" name=""/>
        <dsp:cNvSpPr/>
      </dsp:nvSpPr>
      <dsp:spPr>
        <a:xfrm>
          <a:off x="3562316" y="540921"/>
          <a:ext cx="3251750" cy="263290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727" tIns="0" rIns="216727" bIns="330200" numCol="1" spcCol="1270" rtlCol="0" anchor="t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CN" sz="2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Noto Sans SC Black" panose="020B0200000000000000" pitchFamily="34" charset="-122"/>
              <a:ea typeface="Noto Sans SC Black" panose="020B0200000000000000" pitchFamily="34" charset="-122"/>
              <a:cs typeface="新宋体" panose="02010609030101010101" pitchFamily="49" charset="-122"/>
            </a:rPr>
            <a:t>PPO-RL PERFORMANCE</a:t>
          </a:r>
          <a:endParaRPr lang="zh-cn" sz="2800" b="1" kern="1200" dirty="0">
            <a:ln>
              <a:solidFill>
                <a:schemeClr val="bg1">
                  <a:lumMod val="75000"/>
                  <a:lumOff val="25000"/>
                  <a:alpha val="10000"/>
                </a:schemeClr>
              </a:solidFill>
            </a:ln>
            <a:solidFill>
              <a:schemeClr val="tx2"/>
            </a:solidFill>
            <a:effectLst>
              <a:outerShdw blurRad="9525" dist="25400" dir="14640000" algn="tl" rotWithShape="0">
                <a:schemeClr val="bg1">
                  <a:alpha val="30000"/>
                </a:schemeClr>
              </a:outerShdw>
            </a:effectLst>
            <a:latin typeface="Noto Sans SC Black" panose="020B0200000000000000" pitchFamily="34" charset="-122"/>
            <a:ea typeface="Noto Sans SC Black" panose="020B0200000000000000" pitchFamily="34" charset="-122"/>
            <a:cs typeface="新宋体" panose="02010609030101010101" pitchFamily="49" charset="-122"/>
          </a:endParaRPr>
        </a:p>
      </dsp:txBody>
      <dsp:txXfrm>
        <a:off x="3562316" y="1594084"/>
        <a:ext cx="3251750" cy="1579744"/>
      </dsp:txXfrm>
    </dsp:sp>
    <dsp:sp modelId="{975C752B-C37A-4BA6-A3AE-2202A141404A}">
      <dsp:nvSpPr>
        <dsp:cNvPr id="0" name=""/>
        <dsp:cNvSpPr/>
      </dsp:nvSpPr>
      <dsp:spPr>
        <a:xfrm>
          <a:off x="4531895" y="540921"/>
          <a:ext cx="2194089" cy="1053162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727" tIns="165100" rIns="216727" bIns="165100" numCol="1" spcCol="1270" rtlCol="0" anchor="ctr" anchorCtr="0">
          <a:noAutofit/>
        </a:bodyPr>
        <a:lstStyle/>
        <a:p>
          <a:pPr marL="0" lvl="0" indent="0" algn="l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4800" kern="1200">
              <a:latin typeface="新宋体" panose="02010609030101010101" pitchFamily="49" charset="-122"/>
              <a:ea typeface="新宋体" panose="02010609030101010101" pitchFamily="49" charset="-122"/>
            </a:rPr>
            <a:t>02</a:t>
          </a:r>
          <a:endParaRPr lang="zh-cn" sz="48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4531895" y="540921"/>
        <a:ext cx="2194089" cy="1053162"/>
      </dsp:txXfrm>
    </dsp:sp>
    <dsp:sp modelId="{CAD62F17-E99D-4FEF-B376-961CA4CB20EB}">
      <dsp:nvSpPr>
        <dsp:cNvPr id="0" name=""/>
        <dsp:cNvSpPr/>
      </dsp:nvSpPr>
      <dsp:spPr>
        <a:xfrm>
          <a:off x="6989594" y="540921"/>
          <a:ext cx="3360116" cy="263290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727" tIns="0" rIns="216727" bIns="330200" numCol="1" spcCol="1270" rtlCol="0" anchor="t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CN" sz="2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Noto Sans SC Black" panose="020B0200000000000000" pitchFamily="34" charset="-122"/>
              <a:ea typeface="Noto Sans SC Black" panose="020B0200000000000000" pitchFamily="34" charset="-122"/>
              <a:cs typeface="新宋体" panose="02010609030101010101" pitchFamily="49" charset="-122"/>
            </a:rPr>
            <a:t>POTENTIAL REFINEMENTS</a:t>
          </a:r>
          <a:endParaRPr lang="zh-cn" sz="2800" b="1" kern="1200" dirty="0">
            <a:ln>
              <a:solidFill>
                <a:schemeClr val="bg1">
                  <a:lumMod val="75000"/>
                  <a:lumOff val="25000"/>
                  <a:alpha val="10000"/>
                </a:schemeClr>
              </a:solidFill>
            </a:ln>
            <a:solidFill>
              <a:schemeClr val="tx2"/>
            </a:solidFill>
            <a:effectLst>
              <a:outerShdw blurRad="9525" dist="25400" dir="14640000" algn="tl" rotWithShape="0">
                <a:schemeClr val="bg1">
                  <a:alpha val="30000"/>
                </a:schemeClr>
              </a:outerShdw>
            </a:effectLst>
            <a:latin typeface="Noto Sans SC Black" panose="020B0200000000000000" pitchFamily="34" charset="-122"/>
            <a:ea typeface="Noto Sans SC Black" panose="020B0200000000000000" pitchFamily="34" charset="-122"/>
            <a:cs typeface="新宋体" panose="02010609030101010101" pitchFamily="49" charset="-122"/>
          </a:endParaRPr>
        </a:p>
      </dsp:txBody>
      <dsp:txXfrm>
        <a:off x="6989594" y="1594084"/>
        <a:ext cx="3360116" cy="1579744"/>
      </dsp:txXfrm>
    </dsp:sp>
    <dsp:sp modelId="{E20811D6-E5D4-4C9E-AABF-9E0E1902CA2C}">
      <dsp:nvSpPr>
        <dsp:cNvPr id="0" name=""/>
        <dsp:cNvSpPr/>
      </dsp:nvSpPr>
      <dsp:spPr>
        <a:xfrm>
          <a:off x="8013356" y="540921"/>
          <a:ext cx="2194089" cy="1053162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727" tIns="165100" rIns="216727" bIns="165100" numCol="1" spcCol="1270" rtlCol="0" anchor="ctr" anchorCtr="0">
          <a:noAutofit/>
        </a:bodyPr>
        <a:lstStyle/>
        <a:p>
          <a:pPr marL="0" lvl="0" indent="0" algn="l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4800" kern="1200">
              <a:latin typeface="新宋体" panose="02010609030101010101" pitchFamily="49" charset="-122"/>
              <a:ea typeface="新宋体" panose="02010609030101010101" pitchFamily="49" charset="-122"/>
            </a:rPr>
            <a:t>03</a:t>
          </a:r>
        </a:p>
      </dsp:txBody>
      <dsp:txXfrm>
        <a:off x="8013356" y="540921"/>
        <a:ext cx="2194089" cy="10531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 rtlCol="0"/>
            <a:lstStyle/>
            <a:p>
              <a:pPr rtl="0"/>
              <a:r>
                <a:t>01</a:t>
              </a:r>
            </a:p>
          </dgm:t>
        </dgm:pt>
        <dgm:pt modelId="201" type="sibTrans" cxnId="5">
          <dgm:prSet phldrT="2"/>
          <dgm:t>
            <a:bodyPr rtlCol="0"/>
            <a:lstStyle/>
            <a:p>
              <a:pPr rtl="0"/>
              <a:r>
                <a:t>02</a:t>
              </a:r>
            </a:p>
          </dgm:t>
        </dgm:pt>
        <dgm:pt modelId="301" type="sibTrans" cxnId="6">
          <dgm:prSet phldrT="3"/>
          <dgm:t>
            <a:bodyPr rtlCol="0"/>
            <a:lstStyle/>
            <a:p>
              <a:pPr rtl="0"/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0098C1-0776-4557-9D46-1B787E688456}" type="datetime1">
              <a:rPr lang="zh-CN" altLang="en-US" smtClean="0"/>
              <a:t>2025/12/17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E602E8-7778-4840-9C52-CF866E2E7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03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FF446B9-0BA7-440C-9491-EFEE44B7DCB7}" type="datetime1">
              <a:rPr lang="zh-CN" altLang="en-US" smtClean="0"/>
              <a:t>2025/12/17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/>
              <a:t>单击此处编辑母版文本样式</a:t>
            </a:r>
            <a:endParaRPr lang="en-US"/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86D5CD-F53C-40AA-8F25-6C53AFF4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81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8E8BE3-72DE-4BA9-940E-B3214E2A4FBC}" type="datetime1">
              <a:rPr lang="zh-CN" altLang="en-US" smtClean="0"/>
              <a:t>2025/12/17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761884-1233-44DE-95EA-687917CD0720}" type="datetime1">
              <a:rPr lang="zh-CN" altLang="en-US" smtClean="0"/>
              <a:t>2025/12/17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DD9908-788A-4C9F-9B82-38760DCE99A2}" type="datetime1">
              <a:rPr lang="zh-CN" altLang="en-US" smtClean="0"/>
              <a:t>2025/12/17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8F8C3A-E456-4019-B9D3-D27A657A074F}" type="datetime1">
              <a:rPr lang="zh-CN" altLang="en-US" smtClean="0"/>
              <a:t>2025/12/17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图片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5907AA-E66F-456D-8ABA-1CC838498840}" type="datetime1">
              <a:rPr lang="zh-CN" altLang="en-US" smtClean="0"/>
              <a:t>2025/12/17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C15656-9C52-4530-B9B0-471CBD4A032C}" type="datetime1">
              <a:rPr lang="zh-CN" altLang="en-US" smtClean="0"/>
              <a:t>2025/12/17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3893B8-6395-4039-AAC4-F8E54DB39C70}" type="datetime1">
              <a:rPr lang="zh-CN" altLang="en-US" smtClean="0"/>
              <a:t>2025/12/17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1F0827-5F6F-49F9-9E39-E700438688FE}" type="datetime1">
              <a:rPr lang="zh-CN" altLang="en-US" smtClean="0"/>
              <a:t>2025/12/17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4D902FE-1817-4BA0-AB93-2732E2F941ED}" type="datetime1">
              <a:rPr lang="zh-CN" altLang="en-US" smtClean="0"/>
              <a:t>2025/12/17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​​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A75C24-54DF-4A37-B566-5D4504915616}" type="datetime1">
              <a:rPr lang="zh-CN" altLang="en-US" smtClean="0"/>
              <a:t>2025/12/17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DB8EFA-D326-482A-835B-35244CC8D335}" type="datetime1">
              <a:rPr lang="zh-CN" altLang="en-US" smtClean="0"/>
              <a:t>2025/12/17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题注的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文本占位符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E4DE457-3CDB-46E6-BCC2-0DB87A7AB97D}" type="datetime1">
              <a:rPr lang="zh-CN" altLang="en-US" smtClean="0"/>
              <a:t>2025/12/17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cn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C5E2E9F-6F2A-4603-A42F-23C3B9EC2542}" type="datetime1">
              <a:rPr lang="zh-CN" altLang="en-US" smtClean="0"/>
              <a:t>2025/12/17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文本占位符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8" name="文本占位符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0" name="文本占位符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2" name="文本占位符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AAD336-3C25-4874-9EA7-D9A8F29C3DE6}" type="datetime1">
              <a:rPr lang="zh-CN" altLang="en-US" smtClean="0"/>
              <a:t>2025/12/17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图片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图片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标题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文本占位符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0" name="图片占位符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文本占位符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2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3" name="图片占位符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文本占位符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6" name="图片占位符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文本占位符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85ADDF4-C7DF-4425-A02C-99D8158E8998}" type="datetime1">
              <a:rPr lang="zh-CN" altLang="en-US" smtClean="0"/>
              <a:t>2025/12/17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E115FF-7F57-454B-BC07-3D5B5B3B2E36}" type="datetime1">
              <a:rPr lang="zh-CN" altLang="en-US" smtClean="0"/>
              <a:t>2025/12/17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CC76A30-68C3-4742-871E-C4BFB5BF037D}" type="datetime1">
              <a:rPr lang="zh-CN" altLang="en-US" smtClean="0"/>
              <a:t>2025/12/17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dirty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zh-cn"/>
              <a:t>单击此处编辑母版文本样式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fld id="{B4EFF9AB-85BE-4B1F-BA1B-A157C8C43628}" type="datetime1">
              <a:rPr lang="zh-CN" altLang="en-US" smtClean="0"/>
              <a:t>2025/12/17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endParaRPr 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新宋体" panose="02010609030101010101" pitchFamily="49" charset="-122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moon2000/shengji_plu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CY-GIT-ZCY/RL_Tractor/blob/complex_version/RULE_BASE.md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一张显示了杯子、咖啡、食物和饮料的图片&#10;&#10;说明自动生成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72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RL-Tractor Report</a:t>
            </a:r>
            <a:endParaRPr lang="zh-cn" sz="7200" b="1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元培 周成豫 洪玮骏</a:t>
            </a:r>
            <a:endParaRPr 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913" y="615043"/>
            <a:ext cx="10140648" cy="1257300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44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Research Outline</a:t>
            </a:r>
          </a:p>
        </p:txBody>
      </p:sp>
      <p:graphicFrame>
        <p:nvGraphicFramePr>
          <p:cNvPr id="4" name="内容占位符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0355607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426F4D-34B2-246D-20EC-1E3630EE6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17FC4F-E892-F1CB-E36F-BA583F76B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676" y="182539"/>
            <a:ext cx="10140648" cy="1257300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44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ARCHITECTURE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262848-3233-4EC8-E414-D3C71EAD8D51}"/>
              </a:ext>
            </a:extLst>
          </p:cNvPr>
          <p:cNvSpPr txBox="1"/>
          <p:nvPr/>
        </p:nvSpPr>
        <p:spPr>
          <a:xfrm>
            <a:off x="726604" y="1297923"/>
            <a:ext cx="63273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Before Structural </a:t>
            </a:r>
            <a:r>
              <a:rPr lang="en-US" altLang="zh-CN" sz="28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Desgin</a:t>
            </a:r>
            <a:r>
              <a:rPr lang="zh-CN" alt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endParaRPr lang="en-US" altLang="zh-CN" sz="20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我们对于</a:t>
            </a:r>
            <a:r>
              <a:rPr lang="en-US" altLang="zh-CN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env.py</a:t>
            </a:r>
            <a:r>
              <a:rPr lang="zh-CN" altLang="en-US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内的游戏运行逻辑进行了修改</a:t>
            </a:r>
            <a:r>
              <a:rPr lang="en-US" altLang="zh-CN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CN" altLang="en-US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完善了扣底，报主等交互函数形成了完整的</a:t>
            </a:r>
            <a:r>
              <a:rPr lang="en-US" altLang="zh-CN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Standard Tractor</a:t>
            </a:r>
            <a:r>
              <a:rPr lang="zh-CN" altLang="en-US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的游戏</a:t>
            </a:r>
            <a:r>
              <a:rPr lang="en-US" altLang="zh-CN" sz="16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对照处理：测试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Raw-PPO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算法对于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Tractor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的复杂状态空间的处理效果，得到结果如下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	</a:t>
            </a:r>
          </a:p>
          <a:p>
            <a:pPr lvl="1"/>
            <a:endParaRPr lang="en-US" altLang="zh-CN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/>
            <a:endParaRPr lang="en-US" altLang="zh-CN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/>
            <a:endParaRPr lang="en-US" altLang="zh-CN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/>
            <a:endParaRPr lang="en-US" altLang="zh-CN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37AEA7-DB71-4457-7C4B-A4E0C50E0925}"/>
              </a:ext>
            </a:extLst>
          </p:cNvPr>
          <p:cNvSpPr txBox="1"/>
          <p:nvPr/>
        </p:nvSpPr>
        <p:spPr>
          <a:xfrm>
            <a:off x="7491505" y="1792854"/>
            <a:ext cx="4436531" cy="3003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To address this inconsistency between policies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，我们认为这个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Training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迫切的需要一些基本的动作选择作为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baseline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在这种基础策略的基础上再去跑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RL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的算法，会增强其学到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feasible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的策略的可能性</a:t>
            </a: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（毕竟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PPO-Training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在不同的种子下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performance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很可能差的很多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……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希望依靠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PPO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给出一些好的策略，我得给他省点劲！）</a:t>
            </a: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0FCF8E-D8F3-F202-04EE-D081ADD77A4A}"/>
              </a:ext>
            </a:extLst>
          </p:cNvPr>
          <p:cNvSpPr txBox="1"/>
          <p:nvPr/>
        </p:nvSpPr>
        <p:spPr>
          <a:xfrm>
            <a:off x="217515" y="5726743"/>
            <a:ext cx="114465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分析状态空间（</a:t>
            </a:r>
            <a:r>
              <a:rPr lang="en-US" altLang="zh-CN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128*4*14</a:t>
            </a:r>
            <a:r>
              <a:rPr lang="zh-CN" altLang="en-US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）与动作空间（可出的牌型</a:t>
            </a:r>
            <a:r>
              <a:rPr lang="en-US" altLang="zh-CN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choices</a:t>
            </a:r>
            <a:r>
              <a:rPr lang="zh-CN" altLang="en-US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）的形式：</a:t>
            </a:r>
            <a:endParaRPr lang="en-US" altLang="zh-CN" sz="16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我们猜测是由于动作空间过于稀疏，状态空间内相邻的状态（比如差一张牌</a:t>
            </a:r>
            <a:r>
              <a:rPr lang="en-US" altLang="zh-CN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对手或队友出牌的</a:t>
            </a:r>
            <a:r>
              <a:rPr lang="en-US" altLang="zh-CN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slight differences</a:t>
            </a:r>
            <a:r>
              <a:rPr lang="zh-CN" altLang="en-US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）并没有显式的连续性（动作选择</a:t>
            </a:r>
            <a:r>
              <a:rPr lang="en-US" altLang="zh-CN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16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策略可能相差很多）</a:t>
            </a:r>
            <a:endParaRPr lang="en-US" altLang="zh-CN" sz="16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7055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0F69D-44D3-FDE6-9248-A763D25B2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26A6C6-99ED-BF5F-B163-EECED731E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676" y="251361"/>
            <a:ext cx="10140648" cy="1257300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44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ARCHITECTURE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0512B7-AF3E-C1E7-3E76-3F5321371C95}"/>
              </a:ext>
            </a:extLst>
          </p:cNvPr>
          <p:cNvSpPr txBox="1"/>
          <p:nvPr/>
        </p:nvSpPr>
        <p:spPr>
          <a:xfrm>
            <a:off x="2220686" y="2057773"/>
            <a:ext cx="9280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/>
              </a:rPr>
              <a:t>TheMoon2000/</a:t>
            </a:r>
            <a:r>
              <a:rPr lang="en-US" altLang="zh-CN" dirty="0" err="1">
                <a:hlinkClick r:id="rId3"/>
              </a:rPr>
              <a:t>shengji_plus</a:t>
            </a:r>
            <a:r>
              <a:rPr lang="en-US" altLang="zh-CN" dirty="0">
                <a:hlinkClick r:id="rId3"/>
              </a:rPr>
              <a:t>: Deep Reinforcement Learning System for </a:t>
            </a:r>
            <a:r>
              <a:rPr lang="zh-CN" altLang="en-US" dirty="0">
                <a:hlinkClick r:id="rId3"/>
              </a:rPr>
              <a:t>升级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903485-9B98-9AE5-F41F-018EFF38B4E8}"/>
              </a:ext>
            </a:extLst>
          </p:cNvPr>
          <p:cNvSpPr txBox="1"/>
          <p:nvPr/>
        </p:nvSpPr>
        <p:spPr>
          <a:xfrm>
            <a:off x="1276349" y="1349887"/>
            <a:ext cx="91385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起初，我们希望从一些</a:t>
            </a:r>
            <a:r>
              <a:rPr lang="en-US" altLang="zh-CN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well-formalized</a:t>
            </a:r>
            <a:r>
              <a:rPr lang="zh-CN" altLang="en-US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</a:t>
            </a:r>
            <a:r>
              <a:rPr lang="en-US" altLang="zh-CN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Tractor work</a:t>
            </a:r>
            <a:r>
              <a:rPr lang="zh-CN" altLang="en-US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（</a:t>
            </a:r>
            <a:r>
              <a:rPr lang="en-US" altLang="zh-CN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as follow</a:t>
            </a:r>
            <a:r>
              <a:rPr lang="zh-CN" altLang="en-US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）里面找出一些半程的</a:t>
            </a:r>
            <a:r>
              <a:rPr lang="en-US" altLang="zh-CN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checkpoint</a:t>
            </a:r>
            <a:r>
              <a:rPr lang="zh-CN" altLang="en-US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来生成用于</a:t>
            </a:r>
            <a:r>
              <a:rPr lang="en-US" altLang="zh-CN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Supervised-Learning</a:t>
            </a:r>
            <a:r>
              <a:rPr lang="zh-CN" altLang="en-US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的对局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EAF7EDB-163F-2707-C646-EA6F67EB4F46}"/>
              </a:ext>
            </a:extLst>
          </p:cNvPr>
          <p:cNvSpPr txBox="1"/>
          <p:nvPr/>
        </p:nvSpPr>
        <p:spPr>
          <a:xfrm>
            <a:off x="6283477" y="5235813"/>
            <a:ext cx="57289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但是显然这没有</a:t>
            </a:r>
            <a:r>
              <a:rPr lang="en-US" altLang="zh-CN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work</a:t>
            </a:r>
            <a:r>
              <a:rPr lang="zh-CN" altLang="en-US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（甚至难以与</a:t>
            </a:r>
            <a:r>
              <a:rPr lang="en-US" altLang="zh-CN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random</a:t>
            </a:r>
            <a:r>
              <a:rPr lang="zh-CN" altLang="en-US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区分）</a:t>
            </a:r>
            <a:endParaRPr lang="en-US" altLang="zh-CN" sz="20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理由的匪夷所思的</a:t>
            </a:r>
            <a:r>
              <a:rPr lang="en-US" altLang="zh-CN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</a:p>
          <a:p>
            <a:r>
              <a:rPr lang="zh-CN" altLang="en-US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我们过度的信任了这个</a:t>
            </a:r>
            <a:r>
              <a:rPr lang="en-US" altLang="zh-CN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from Berkley</a:t>
            </a:r>
            <a:r>
              <a:rPr lang="zh-CN" altLang="en-US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0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work</a:t>
            </a:r>
            <a:endParaRPr lang="zh-CN" altLang="en-US" sz="20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812949-654C-C9E0-7A44-52DCA92469F5}"/>
              </a:ext>
            </a:extLst>
          </p:cNvPr>
          <p:cNvSpPr txBox="1"/>
          <p:nvPr/>
        </p:nvSpPr>
        <p:spPr>
          <a:xfrm>
            <a:off x="5956905" y="2734612"/>
            <a:ext cx="579664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根据生成的对局数据，进一步地进行适度的监督学习</a:t>
            </a:r>
            <a:endParaRPr lang="en-US" altLang="zh-CN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这里显然不能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overfit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一个并非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optimal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的策略，我们希望这个基本的出牌方式能提供一个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guideline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节省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RL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探索的成本而不希望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agent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陷进去</a:t>
            </a:r>
            <a:endParaRPr lang="en-US" altLang="zh-CN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再在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pre-trained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model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上跑</a:t>
            </a:r>
            <a:r>
              <a:rPr lang="en-US" altLang="zh-CN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PPO</a:t>
            </a:r>
            <a:r>
              <a:rPr lang="zh-CN" altLang="en-US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，结果如图所示</a:t>
            </a:r>
          </a:p>
        </p:txBody>
      </p:sp>
    </p:spTree>
    <p:extLst>
      <p:ext uri="{BB962C8B-B14F-4D97-AF65-F5344CB8AC3E}">
        <p14:creationId xmlns:p14="http://schemas.microsoft.com/office/powerpoint/2010/main" val="3968201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6A77A8-4ADB-F2CF-A980-7A6FA788C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8735B6-E943-C325-4466-8FEB687B7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676" y="239486"/>
            <a:ext cx="10140648" cy="1257300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44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ARCHITECTURE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171952-877E-F0C9-FB95-5DE52C41B996}"/>
              </a:ext>
            </a:extLst>
          </p:cNvPr>
          <p:cNvSpPr txBox="1"/>
          <p:nvPr/>
        </p:nvSpPr>
        <p:spPr>
          <a:xfrm>
            <a:off x="1276349" y="1349887"/>
            <a:ext cx="9138558" cy="1157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既然遍寻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paper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找不到合适的可用的开源的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checkpoints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可以用来生成数据，我们就只好按照自己对这个游戏的理解，设定一些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simple enough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并且并不过度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overfit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rule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，用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rule-based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agent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生成一些“灵智未开”的训练数据，用于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supervised-learning…</a:t>
            </a:r>
            <a:endParaRPr lang="zh-CN" altLang="en-US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0EC897-71FE-76B8-5E54-D60B2227EFCA}"/>
              </a:ext>
            </a:extLst>
          </p:cNvPr>
          <p:cNvSpPr txBox="1"/>
          <p:nvPr/>
        </p:nvSpPr>
        <p:spPr>
          <a:xfrm>
            <a:off x="2092778" y="2607187"/>
            <a:ext cx="80064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/>
              </a:rPr>
              <a:t>RL_Tractor/RULE_BASE.md at </a:t>
            </a:r>
            <a:r>
              <a:rPr lang="en-US" altLang="zh-CN" dirty="0" err="1">
                <a:hlinkClick r:id="rId3"/>
              </a:rPr>
              <a:t>complex_version</a:t>
            </a:r>
            <a:r>
              <a:rPr lang="en-US" altLang="zh-CN" dirty="0">
                <a:hlinkClick r:id="rId3"/>
              </a:rPr>
              <a:t> · ZCY-GIT-ZCY/</a:t>
            </a:r>
            <a:r>
              <a:rPr lang="en-US" altLang="zh-CN" dirty="0" err="1">
                <a:hlinkClick r:id="rId3"/>
              </a:rPr>
              <a:t>RL_Tractor</a:t>
            </a:r>
            <a:endParaRPr lang="zh-CN" altLang="en-US" dirty="0"/>
          </a:p>
        </p:txBody>
      </p:sp>
      <p:pic>
        <p:nvPicPr>
          <p:cNvPr id="7" name="图片 6" descr="图形用户界面, 文本, 应用程序, 电子邮件">
            <a:extLst>
              <a:ext uri="{FF2B5EF4-FFF2-40B4-BE49-F238E27FC236}">
                <a16:creationId xmlns:a16="http://schemas.microsoft.com/office/drawing/2014/main" id="{D4B79B76-E430-9A48-1BE6-1A566A173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78" y="3076514"/>
            <a:ext cx="4893232" cy="354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37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6B456-5A0D-92B2-B5F9-D75FE1331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A469E-CC07-F668-360F-37CA1FF2A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676" y="277586"/>
            <a:ext cx="10140648" cy="1257300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44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PERFORMANCE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B45A12-A5D3-3D7E-3F18-1F65EABBC1DE}"/>
              </a:ext>
            </a:extLst>
          </p:cNvPr>
          <p:cNvSpPr txBox="1"/>
          <p:nvPr/>
        </p:nvSpPr>
        <p:spPr>
          <a:xfrm>
            <a:off x="1276348" y="1349887"/>
            <a:ext cx="9440637" cy="152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in case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闹出像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Berkley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那篇本科毕业论文一样的乌龙，我们评测了这个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rule-based agent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的基本表现，确认其在大面上具备正常进行这个游戏的水平（比如至少不会攻击队友，不会给对手贴分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……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进而保留原本的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workflow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Collect_Data.py -&gt; preprocess_Data.py -&gt; Supervised_Train.py -&gt;train.py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PPO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）），形成的策略表现如下：</a:t>
            </a:r>
          </a:p>
        </p:txBody>
      </p:sp>
    </p:spTree>
    <p:extLst>
      <p:ext uri="{BB962C8B-B14F-4D97-AF65-F5344CB8AC3E}">
        <p14:creationId xmlns:p14="http://schemas.microsoft.com/office/powerpoint/2010/main" val="1731288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42E11C-C611-4037-6CAB-1E7E473D5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E2D118-90A3-63F4-09AD-6ECFC22F4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676" y="272144"/>
            <a:ext cx="10140648" cy="1257300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44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735108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B873D4-507A-29A2-88ED-BF1AF0320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D1166C-CDD9-8EA6-B7BD-393CCFB56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676" y="223155"/>
            <a:ext cx="10140648" cy="1257300"/>
          </a:xfrm>
        </p:spPr>
        <p:txBody>
          <a:bodyPr rtlCol="0">
            <a:normAutofit/>
          </a:bodyPr>
          <a:lstStyle/>
          <a:p>
            <a:r>
              <a:rPr lang="en-US" altLang="zh-CN" sz="44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REFINEMENTS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509B4E-7C8A-C69A-E394-40D4935C1719}"/>
              </a:ext>
            </a:extLst>
          </p:cNvPr>
          <p:cNvSpPr txBox="1"/>
          <p:nvPr/>
        </p:nvSpPr>
        <p:spPr>
          <a:xfrm>
            <a:off x="1276348" y="1262799"/>
            <a:ext cx="9462409" cy="420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对于目前形成的架构进行剖析，我们看到以下问题：</a:t>
            </a:r>
            <a:endParaRPr lang="en-US" altLang="zh-CN" sz="20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在进行监督学习形成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baseline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的时候，数据的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loss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很难有效的下降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这并非我们预期的（轻微欠拟合保留泛化能力），而是有点太欠拟合了（除了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rule-base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本身和最终的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gap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以外，这个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baseline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形成的策略跟本身期望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rule-base-agent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的策略，还是有一个二阶的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gap——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这个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gap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unexpected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的，会影响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baseline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的引导效果）</a:t>
            </a: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RL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的过程耗时过长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我们应该期望在更长的时间尺度上看到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PPO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更好的结果？（断点续训）</a:t>
            </a: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网络架构层面：在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MLP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处用残差连接稳定梯度；在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RL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初期使得固定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CNN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的特征提取的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params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，使得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value-network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的参数更新跟上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action-network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</a:t>
            </a:r>
            <a:r>
              <a:rPr lang="en-US" altLang="zh-CN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supervised</a:t>
            </a:r>
            <a:r>
              <a:rPr lang="zh-CN" altLang="en-US" sz="1600" b="1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策略</a:t>
            </a:r>
            <a:endParaRPr lang="en-US" altLang="zh-CN" sz="1600" b="1" dirty="0">
              <a:solidFill>
                <a:schemeClr val="tx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3393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D47F49-FF9E-FCE8-DED4-33C38049E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F8656F-A416-9984-DF0B-7B6B770DF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676" y="326572"/>
            <a:ext cx="10140648" cy="1257300"/>
          </a:xfrm>
        </p:spPr>
        <p:txBody>
          <a:bodyPr rtlCol="0">
            <a:normAutofit/>
          </a:bodyPr>
          <a:lstStyle/>
          <a:p>
            <a:r>
              <a:rPr lang="en-US" altLang="zh-CN" sz="44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REFINEMENTS</a:t>
            </a:r>
          </a:p>
        </p:txBody>
      </p:sp>
    </p:spTree>
    <p:extLst>
      <p:ext uri="{BB962C8B-B14F-4D97-AF65-F5344CB8AC3E}">
        <p14:creationId xmlns:p14="http://schemas.microsoft.com/office/powerpoint/2010/main" val="1434879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EAEAB-4C96-F9C4-0444-3471685B0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2255B-40E9-F8CD-A5F7-560DF83CC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942" y="2661560"/>
            <a:ext cx="8267690" cy="1257300"/>
          </a:xfrm>
        </p:spPr>
        <p:txBody>
          <a:bodyPr rtlCol="0">
            <a:normAutofit fontScale="90000"/>
          </a:bodyPr>
          <a:lstStyle/>
          <a:p>
            <a:r>
              <a:rPr lang="en-US" altLang="zh-CN" sz="80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21573820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56_TF12214701.potx" id="{11CCF850-A106-4C83-9778-04C2F532D32F}" vid="{0B8A0E20-82B4-435B-92AB-957BEAB02422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{4DE7B9B6-9132-4615-B340-A91DC15B5F8F}TFe887d8cf-77a9-48cd-9a74-d8d08097a61c6c5a5c18_win32-5d5fec16f39d</Template>
  <TotalTime>868</TotalTime>
  <Words>668</Words>
  <Application>Microsoft Office PowerPoint</Application>
  <PresentationFormat>宽屏</PresentationFormat>
  <Paragraphs>50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Microsoft JhengHei UI</vt:lpstr>
      <vt:lpstr>Microsoft YaHei UI</vt:lpstr>
      <vt:lpstr>Noto Sans SC Black</vt:lpstr>
      <vt:lpstr>楷体</vt:lpstr>
      <vt:lpstr>微软雅黑</vt:lpstr>
      <vt:lpstr>新宋体</vt:lpstr>
      <vt:lpstr>Arial</vt:lpstr>
      <vt:lpstr>Calibri</vt:lpstr>
      <vt:lpstr>Wingdings 2</vt:lpstr>
      <vt:lpstr>SlateVTI</vt:lpstr>
      <vt:lpstr>RL-Tractor Report</vt:lpstr>
      <vt:lpstr>Research Outline</vt:lpstr>
      <vt:lpstr>ARCHITECTURE</vt:lpstr>
      <vt:lpstr>ARCHITECTURE</vt:lpstr>
      <vt:lpstr>ARCHITECTURE</vt:lpstr>
      <vt:lpstr>PERFORMANCE</vt:lpstr>
      <vt:lpstr>PERFORMANCE</vt:lpstr>
      <vt:lpstr>REFINEMENTS</vt:lpstr>
      <vt:lpstr>REFINEMENTS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玮骏 洪</dc:creator>
  <cp:lastModifiedBy>玮骏 洪</cp:lastModifiedBy>
  <cp:revision>29</cp:revision>
  <dcterms:created xsi:type="dcterms:W3CDTF">2025-12-15T16:02:16Z</dcterms:created>
  <dcterms:modified xsi:type="dcterms:W3CDTF">2025-12-17T17:46:24Z</dcterms:modified>
</cp:coreProperties>
</file>